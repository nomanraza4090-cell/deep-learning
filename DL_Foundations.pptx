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4C4C4C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687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i2tlbIGyzKk?si=_uShHv8pD9DgmYl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pattFill prst="solidDmnd">
          <a:fgClr>
            <a:schemeClr val="tx1"/>
          </a:fgClr>
          <a:bgClr>
            <a:schemeClr val="tx1">
              <a:lumMod val="95000"/>
              <a:lumOff val="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964096"/>
            <a:ext cx="8412480" cy="1779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Foundations</a:t>
            </a:r>
            <a:endParaRPr lang="en-US" sz="3800" b="1" dirty="0">
              <a:solidFill>
                <a:srgbClr val="FFFFFF"/>
              </a:solidFill>
              <a:latin typeface="Georgia" pitchFamily="34" charset="0"/>
            </a:endParaRPr>
          </a:p>
          <a:p>
            <a:pPr marL="0" indent="0">
              <a:buNone/>
            </a:pPr>
            <a:endParaRPr lang="en-US" sz="3800" b="1" dirty="0">
              <a:solidFill>
                <a:srgbClr val="FFFFFF"/>
              </a:solidFill>
              <a:latin typeface="Georgia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Represented by :- M.Noman Raza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Assignment — Architecture, Resources &amp; Real-World Applications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Research &amp; Resource Discovery  |  Part B: Complex Use Cases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pattFill prst="solidDmnd">
          <a:fgClr>
            <a:schemeClr val="tx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'Why DL?' Question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Deep Learning vs Traditional ML — and when NOT to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chemeClr val="tx1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A1 — Why Deep Learning? Resource Discovery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solidFill>
            <a:schemeClr val="tx1"/>
          </a:solidFill>
          <a:ln w="1270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7955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07792" y="7955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82512" y="7955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61288"/>
            <a:ext cx="8595360" cy="1170432"/>
          </a:xfrm>
          <a:prstGeom prst="rect">
            <a:avLst/>
          </a:prstGeom>
          <a:solidFill>
            <a:schemeClr val="bg1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Deep Learning instead of Random Forest / SVM?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1161288"/>
            <a:ext cx="9144" cy="1170432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0" y="1234440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"Deep Learning vs Traditional ML" — Towards Data Science</a:t>
            </a:r>
            <a:endParaRPr lang="en-US" sz="1000" dirty="0"/>
          </a:p>
          <a:p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https://www.coursera.org/articles/ai-vs-deep-learning-vs-machine-learning-beginners-guide </a:t>
            </a:r>
          </a:p>
          <a:p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You-tube Reference</a:t>
            </a:r>
          </a:p>
          <a:p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https://youtu.be/q6kJ71tEYqM?si=NCVL5CvtpxlrKUFm</a:t>
            </a:r>
          </a:p>
        </p:txBody>
      </p:sp>
      <p:sp>
        <p:nvSpPr>
          <p:cNvPr id="12" name="Shape 10"/>
          <p:cNvSpPr/>
          <p:nvPr/>
        </p:nvSpPr>
        <p:spPr>
          <a:xfrm>
            <a:off x="6309360" y="1161288"/>
            <a:ext cx="9144" cy="1170432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1234440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automatically learns hierarchical features from raw data (images, audio, text) eliminating manual feature engineering — crucial when data is high-dimensional.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8595360" cy="1170432"/>
          </a:xfrm>
          <a:prstGeom prst="rect">
            <a:avLst/>
          </a:prstGeom>
          <a:solidFill>
            <a:schemeClr val="bg1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DL a BAD choice?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(Scenario 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2395728"/>
            <a:ext cx="9144" cy="1170432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0" y="2468880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NOT to Use Deep Learning" —https://medium.com/@jorgemswork/when-not-to-use-deep-learning-cases-where-classic-methods-outperform-neural-networks-d6b3a7eb470e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2395728"/>
            <a:ext cx="9144" cy="1170432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 (&lt; 1,000 samples): DL overfits badly. Random Forests or SVMs with proper regularization outperform DL models.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30168"/>
            <a:ext cx="8595360" cy="1170432"/>
          </a:xfrm>
          <a:prstGeom prst="rect">
            <a:avLst/>
          </a:prstGeom>
          <a:solidFill>
            <a:schemeClr val="bg1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5760" y="3703320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DL a BAD choice?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(Scenario 2)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3630168"/>
            <a:ext cx="9144" cy="1170432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0" y="3703320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"Limitations of Deep Learning" — https://www.geeksforgeeks.org/deep-learning/advantages-and-disadvantages-of-deep-learning/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630168"/>
            <a:ext cx="9144" cy="1170432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3703320"/>
            <a:ext cx="23957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Interpretability-critical domains (medicine, law, finance): DL is a 'black box.' Logistic Regression or Decision Trees provide auditable, explainable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A1 — Visual Concept: DL vs Traditional ML (My Own Diagram)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114800"/>
          </a:xfrm>
          <a:prstGeom prst="rect">
            <a:avLst/>
          </a:prstGeom>
          <a:solidFill>
            <a:schemeClr val="bg1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931920" cy="365760"/>
          </a:xfrm>
          <a:prstGeom prst="rect">
            <a:avLst/>
          </a:prstGeom>
          <a:solidFill>
            <a:schemeClr val="tx1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Traditional ML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2834640" cy="45720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DBDB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737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938528"/>
            <a:ext cx="28346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BEBE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938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3957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596896"/>
            <a:ext cx="28346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5968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255264"/>
            <a:ext cx="28346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A9A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2552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(SVM / RF)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7124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913632"/>
            <a:ext cx="28346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5354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Human must define features manually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Fails on images/audio/text at scale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chemeClr val="bg1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solidFill>
            <a:schemeClr val="tx1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7955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Deep Learning Pipeline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1280160"/>
            <a:ext cx="32918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(images, text, audio)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17373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1938528"/>
            <a:ext cx="32918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74920" y="1938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Edges &amp; Curves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23957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2596896"/>
            <a:ext cx="32918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9F9F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74920" y="25968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Shapes &amp; Patterns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74920" y="3255264"/>
            <a:ext cx="32918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8787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74920" y="32552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Objects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92240" y="37124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74920" y="3913632"/>
            <a:ext cx="329184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74920" y="3913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(Auto)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09160" y="45354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Automatic feature learning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Scales with more data &amp; compute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06240" y="2240280"/>
            <a:ext cx="457200" cy="4572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160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4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Architecture Types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 •  RNN/LSTM  •  GAN  •  Transformer — Resources, Mechanisms &amp; Limitations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A2 — CNN (Convolutional Neural Network)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417320"/>
          </a:xfrm>
          <a:prstGeom prst="rect">
            <a:avLst/>
          </a:prstGeom>
          <a:solidFill>
            <a:srgbClr val="CBCBCB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434343"/>
          </a:solidFill>
          <a:ln w="1270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1 — Why This Source is Good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79576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Smashers — 'But what is a neural network?' (YouTube, 11 min)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cs typeface="Calibri" pitchFamily="34" charset="-120"/>
              </a:rPr>
              <a:t>Visual representation of neural network.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822960"/>
            <a:ext cx="4114800" cy="1417320"/>
          </a:xfrm>
          <a:prstGeom prst="rect">
            <a:avLst/>
          </a:prstGeom>
          <a:solidFill>
            <a:srgbClr val="CBCBCB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114800" cy="347472"/>
          </a:xfrm>
          <a:prstGeom prst="rect">
            <a:avLst/>
          </a:prstGeom>
          <a:solidFill>
            <a:srgbClr val="434343"/>
          </a:solidFill>
          <a:ln w="1270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172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2 — Why This Source is Good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1728" y="1179576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Deeplizard — 'Convolutional Neural Networks for Visual Recognition'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Gold-standard academic course notes. Answers all 3 required questions with diagrams and architecture comparisons.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2743200" cy="320040"/>
          </a:xfrm>
          <a:prstGeom prst="rect">
            <a:avLst/>
          </a:prstGeom>
          <a:solidFill>
            <a:srgbClr val="6C6C6C"/>
          </a:solidFill>
          <a:ln w="12700">
            <a:solidFill>
              <a:srgbClr val="6C6C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was it invented to solve?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images without handcrafted features. LeNet (1989) reduced parameters vs fully-connected nets for pixel data.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72968" y="2331720"/>
            <a:ext cx="2743200" cy="320040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key 'magic' layer?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64408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Convolution Layer — a sliding filter (kernel) that detects local features (edges, textures) and creates feature maps preserving spatial structure.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2331720"/>
            <a:ext cx="2743200" cy="320040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44768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can't it do well?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63056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 across an image, understanding sequence order in text, and 3D volumetric understanding without extensions (3D CNNs).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 Extraction Pipeline: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23360"/>
            <a:ext cx="822960" cy="914400"/>
          </a:xfrm>
          <a:prstGeom prst="roundRect">
            <a:avLst>
              <a:gd name="adj" fmla="val 8889"/>
            </a:avLst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43159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353312" y="40233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727272"/>
          </a:solidFill>
          <a:ln w="12700">
            <a:solidFill>
              <a:srgbClr val="727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53312" y="4023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67712" y="43159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523744" y="4023360"/>
            <a:ext cx="822960" cy="914400"/>
          </a:xfrm>
          <a:prstGeom prst="roundRect">
            <a:avLst>
              <a:gd name="adj" fmla="val 8889"/>
            </a:avLst>
          </a:prstGeom>
          <a:solidFill>
            <a:srgbClr val="434343"/>
          </a:solidFill>
          <a:ln w="1270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23744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46704" y="43159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02736" y="4023360"/>
            <a:ext cx="822960" cy="914400"/>
          </a:xfrm>
          <a:prstGeom prst="roundRect">
            <a:avLst>
              <a:gd name="adj" fmla="val 8889"/>
            </a:avLst>
          </a:prstGeom>
          <a:solidFill>
            <a:srgbClr val="585858"/>
          </a:solidFill>
          <a:ln w="12700">
            <a:solidFill>
              <a:srgbClr val="58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02736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25696" y="43159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81728" y="402336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5E5E5E"/>
          </a:solidFill>
          <a:ln w="12700">
            <a:solidFill>
              <a:srgbClr val="5E5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81728" y="402336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58968" y="43159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715000" y="402336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8F8F8F"/>
          </a:solidFill>
          <a:ln w="12700">
            <a:solidFill>
              <a:srgbClr val="8F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15000" y="402336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431596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748272" y="4023360"/>
            <a:ext cx="822960" cy="914400"/>
          </a:xfrm>
          <a:prstGeom prst="roundRect">
            <a:avLst>
              <a:gd name="adj" fmla="val 8889"/>
            </a:avLst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48272" y="4023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A2 — RNN / LSTM (Recurrent Neural Network)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417320"/>
          </a:xfrm>
          <a:prstGeom prst="rect">
            <a:avLst/>
          </a:prstGeom>
          <a:solidFill>
            <a:srgbClr val="CBCBCB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1 — Why This Source is Good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79576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Smashers — 'Illustrated RNN, LSTM, GRU’(</a:t>
            </a:r>
            <a:r>
              <a:rPr lang="en-US" sz="1050" dirty="0" err="1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r>
              <a:rPr lang="en-US" sz="1050" dirty="0"/>
              <a:t>https://youtu.be/uCGZ1DZfm2o?si=dG19zFe2_1YEu7ar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Highly-regarded visual explainer. Step-by-step diagrams of hidden state flow, gates, and memory cells. Best for beginners.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822960"/>
            <a:ext cx="4114800" cy="1417320"/>
          </a:xfrm>
          <a:prstGeom prst="rect">
            <a:avLst/>
          </a:prstGeom>
          <a:solidFill>
            <a:srgbClr val="CBCBCB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114800" cy="34747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172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2 — Why This Source is Good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1728" y="1179576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Smashers — 'The Unreasonable Effectiveness of RNNs' (Blog)</a:t>
            </a:r>
            <a:endParaRPr lang="en-US" sz="1050" dirty="0"/>
          </a:p>
          <a:p>
            <a:r>
              <a:rPr lang="en-US" sz="1050" dirty="0"/>
              <a:t>https://karpathy.github.io/2015/05/21/rnn-effectiveness/</a:t>
            </a:r>
          </a:p>
          <a:p>
            <a:endParaRPr lang="en-US" sz="1050" dirty="0"/>
          </a:p>
          <a:p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</a:t>
            </a:r>
            <a:br>
              <a:rPr lang="en-US" sz="1050" dirty="0"/>
            </a:br>
            <a:r>
              <a:rPr lang="en-US" sz="1050" dirty="0"/>
              <a:t>Andrej </a:t>
            </a:r>
            <a:r>
              <a:rPr lang="en-US" sz="1050" dirty="0" err="1"/>
              <a:t>Karpathy</a:t>
            </a:r>
            <a:r>
              <a:rPr lang="en-US" sz="1050" dirty="0"/>
              <a:t> blog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Real code outputs illustrate sequence learning. Directly answers: what can RNNs do?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2743200" cy="320040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was it invented to solve?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data prediction — time series, text, speech — where the ORDER of inputs matters and context from past must be remembered.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72968" y="2331720"/>
            <a:ext cx="2743200" cy="320040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key 'magic' mechanism?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64408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LSTM's three gates: Forget Gate (what to discard), Input Gate (what new info to store), Output Gate (what to output) — enabling long-term memory</a:t>
            </a: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2331720"/>
            <a:ext cx="2743200" cy="320040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44768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can't it do well?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63056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sequences (vanishing gradients), parallel training (sequential by design), and tasks requiring global context across thousands of tokens — Transformers dominate here.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3749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Memory Cell (Unrolled over Time):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41648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C1C1C1"/>
          </a:solidFill>
          <a:ln w="12700">
            <a:solidFill>
              <a:srgbClr val="C1C1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04164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20240" y="4430268"/>
            <a:ext cx="502920" cy="0"/>
          </a:xfrm>
          <a:prstGeom prst="line">
            <a:avLst/>
          </a:prstGeom>
          <a:noFill/>
          <a:ln w="317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20240" y="4315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→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23160" y="4041648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848484"/>
          </a:solidFill>
          <a:ln w="12700">
            <a:solidFill>
              <a:srgbClr val="8484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23160" y="404164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69080" y="4430268"/>
            <a:ext cx="502920" cy="0"/>
          </a:xfrm>
          <a:prstGeom prst="line">
            <a:avLst/>
          </a:prstGeom>
          <a:noFill/>
          <a:ln w="317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69080" y="4315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→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0" y="4041648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0" y="404164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4430268"/>
            <a:ext cx="502920" cy="0"/>
          </a:xfrm>
          <a:prstGeom prst="line">
            <a:avLst/>
          </a:prstGeom>
          <a:noFill/>
          <a:ln w="317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4315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→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20840" y="4041648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20840" y="404164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A2 — GAN (Generative Adversarial Network)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417320"/>
          </a:xfrm>
          <a:prstGeom prst="rect">
            <a:avLst/>
          </a:prstGeom>
          <a:solidFill>
            <a:srgbClr val="CBCBCB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1 — Why This Source is Good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79576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Engineering — 'Generative Adversarial Networks’(</a:t>
            </a:r>
            <a:r>
              <a:rPr lang="en-US" sz="1050" dirty="0" err="1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r>
              <a:rPr lang="en-US" sz="1050" dirty="0"/>
              <a:t>https://youtu.be/X_UUl4HrRFk?si=XgTctniEvv1wULUb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Google resource. Covers Generator/Discriminator interplay, training process, and failure modes (mode collapse).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822960"/>
            <a:ext cx="4114800" cy="1417320"/>
          </a:xfrm>
          <a:prstGeom prst="rect">
            <a:avLst/>
          </a:prstGeom>
          <a:solidFill>
            <a:srgbClr val="CBCBCB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114800" cy="347472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172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2 — Why This Source is Good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1728" y="1179576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Udith Haputhanthri 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'From GAN to WGAN' (Lil'Log Blog)</a:t>
            </a:r>
            <a:endParaRPr lang="en-US" sz="1050" dirty="0"/>
          </a:p>
          <a:p>
            <a:r>
              <a:rPr lang="en-US" sz="1050" dirty="0"/>
              <a:t>https://medium.com/the-ai-team/gans-to-wasserstein-gans-74028d3b0aae</a:t>
            </a:r>
          </a:p>
          <a:p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Research-backed blog by </a:t>
            </a:r>
            <a:r>
              <a:rPr lang="en-US" sz="1050" dirty="0"/>
              <a:t>the-ai. Team. 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GAN math intuitively and covers evolution from original GAN to modern variants.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2743200" cy="320040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was it invented to solve?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realistic synthetic data — images, audio, video — that is indistinguishable from real data. Invented by Ian Goodfellow in 2014.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72968" y="2331720"/>
            <a:ext cx="2743200" cy="320040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key 'magic' mechanism?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64408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networks in competition: Generator creates fakes, Discriminator judges real vs fake. Adversarial training drives both to improve — like a forger vs art detective.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2331720"/>
            <a:ext cx="2743200" cy="320040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44768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can't it do well?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63056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stability (mode collapse), evaluating quality without ground truth, and reasoning about semantic meaning. Hard to control what it generates without guidance.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3749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Diagram — GAN Adversarial Training Loop: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41648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DBDBDB"/>
          </a:solidFill>
          <a:ln w="12700">
            <a:solidFill>
              <a:srgbClr val="A9A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04164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z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63040" y="43159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783080" y="4041648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AEAEAE"/>
          </a:solidFill>
          <a:ln w="12700">
            <a:solidFill>
              <a:srgbClr val="78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83080" y="4041648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(creates fakes)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43159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94760" y="365760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595959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94760" y="36576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 or Fake?)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4069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361188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CBCBCB"/>
          </a:solidFill>
          <a:ln w="12700">
            <a:solidFill>
              <a:srgbClr val="7C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26080" y="3611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40680" y="4169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806440" y="4041648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87878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06440" y="40416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 / ❌ Fake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83080" y="486460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Loss signals improve both networks (adversarial feedback loop) →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502920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use: Deepfake creation, art generation (DALL·E ancestors), data augmentation, face aging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A2 — Transformer (Attention Is All You Need)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417320"/>
          </a:xfrm>
          <a:prstGeom prst="rect">
            <a:avLst/>
          </a:prstGeom>
          <a:solidFill>
            <a:srgbClr val="CBCBCB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1 — Why This Source is Good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79576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Sheryians AI School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'The Illustrated Transformer’ (</a:t>
            </a:r>
            <a:r>
              <a:rPr lang="en-US" sz="1050" dirty="0" err="1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r>
              <a:rPr lang="en-US" sz="1050" dirty="0">
                <a:hlinkClick r:id="rId3"/>
              </a:rPr>
              <a:t>https://youtu.be/i2tlbIGyzKk?si=_uShHv8pD9DgmYlp</a:t>
            </a:r>
            <a:endParaRPr lang="en-US" sz="1050" dirty="0"/>
          </a:p>
          <a:p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visual explanation of self-attention and multi-head attention. Peer-reviewed quality, used by Stanford NLP students.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822960"/>
            <a:ext cx="4114800" cy="1417320"/>
          </a:xfrm>
          <a:prstGeom prst="rect">
            <a:avLst/>
          </a:prstGeom>
          <a:solidFill>
            <a:srgbClr val="CBCBCB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4114800" cy="347472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1728" y="813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2 — Why This Source is Good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1728" y="1179576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Saket Garodia 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'Let's build GPT from scratch’ (blog)</a:t>
            </a:r>
            <a:endParaRPr lang="en-US" sz="1050" dirty="0"/>
          </a:p>
          <a:p>
            <a:r>
              <a:rPr lang="en-US" sz="1050" dirty="0"/>
              <a:t>http://saketgarodia.medium.com/build-and-learn-gpt-from-scratch-part-1-87f63c7be55d</a:t>
            </a:r>
          </a:p>
          <a:p>
            <a:br>
              <a:rPr lang="en-US" sz="1050" dirty="0"/>
            </a:br>
            <a:r>
              <a:rPr lang="en-US" sz="1050" dirty="0"/>
              <a:t>Saket Garodia 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Transformer live in Python. You see the exact Q, K, V matrices forming. Trustworthy author, complete code.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2743200" cy="320040"/>
          </a:xfrm>
          <a:prstGeom prst="rect">
            <a:avLst/>
          </a:prstGeom>
          <a:solidFill>
            <a:srgbClr val="494949"/>
          </a:solidFill>
          <a:ln w="12700">
            <a:solidFill>
              <a:srgbClr val="49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was it invented to solve?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dependency in sequences — understanding that 'it' in 'the trophy didn't fit in the suitcase because it was too big' refers to 'trophy,' not 'suitcase.'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72968" y="2331720"/>
            <a:ext cx="2743200" cy="320040"/>
          </a:xfrm>
          <a:prstGeom prst="rect">
            <a:avLst/>
          </a:prstGeom>
          <a:solidFill>
            <a:srgbClr val="454545"/>
          </a:solidFill>
          <a:ln w="12700">
            <a:solidFill>
              <a:srgbClr val="45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key 'magic' mechanism?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64408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each word computes Query (Q), Key (K), Value (V) vectors. Attention = softmax(QKᵀ/√d)V — every word attends to all others simultaneously.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2331720"/>
            <a:ext cx="2743200" cy="320040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44768" y="235000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can't it do well?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71616" y="2651760"/>
            <a:ext cx="2743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63056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complexity O(n²) in sequence length, no inherent spatial understanding (needs positional encoding), and very data/compute hungry compared to smaller RNNs.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3749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Mechanism: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4164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DCDCD"/>
          </a:solidFill>
          <a:ln w="12700">
            <a:solidFill>
              <a:srgbClr val="CDCDC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4320" y="4041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17320" y="4270248"/>
            <a:ext cx="0" cy="0"/>
          </a:xfrm>
          <a:prstGeom prst="line">
            <a:avLst/>
          </a:prstGeom>
          <a:noFill/>
          <a:ln w="12700">
            <a:solidFill>
              <a:srgbClr val="92929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74520" y="404164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B7B7B7"/>
          </a:solidFill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74520" y="4041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74720" y="404164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BCBCB"/>
          </a:solidFill>
          <a:ln w="12700">
            <a:solidFill>
              <a:srgbClr val="CBC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0" y="4041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17320" y="4270248"/>
            <a:ext cx="2743200" cy="0"/>
          </a:xfrm>
          <a:prstGeom prst="line">
            <a:avLst/>
          </a:prstGeom>
          <a:noFill/>
          <a:ln w="12700">
            <a:solidFill>
              <a:srgbClr val="92929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74920" y="404164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74920" y="4041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417320" y="4270248"/>
            <a:ext cx="4343400" cy="0"/>
          </a:xfrm>
          <a:prstGeom prst="line">
            <a:avLst/>
          </a:prstGeom>
          <a:noFill/>
          <a:ln w="12700">
            <a:solidFill>
              <a:srgbClr val="92929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75120" y="404164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AEAEAE"/>
          </a:solidFill>
          <a:ln w="12700">
            <a:solidFill>
              <a:srgbClr val="AEA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75120" y="4041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17320" y="4270248"/>
            <a:ext cx="5943600" cy="0"/>
          </a:xfrm>
          <a:prstGeom prst="line">
            <a:avLst/>
          </a:prstGeom>
          <a:noFill/>
          <a:ln w="12700">
            <a:solidFill>
              <a:srgbClr val="929292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Shape 38"/>
          <p:cNvSpPr/>
          <p:nvPr/>
        </p:nvSpPr>
        <p:spPr>
          <a:xfrm>
            <a:off x="1417320" y="4647935"/>
            <a:ext cx="5943600" cy="0"/>
          </a:xfrm>
          <a:prstGeom prst="line">
            <a:avLst/>
          </a:prstGeom>
          <a:noFill/>
          <a:ln w="12700">
            <a:solidFill>
              <a:srgbClr val="92929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8">
            <a:extLst>
              <a:ext uri="{FF2B5EF4-FFF2-40B4-BE49-F238E27FC236}">
                <a16:creationId xmlns:a16="http://schemas.microsoft.com/office/drawing/2014/main" id="{CCBFCE3D-1ACC-232E-CE2D-BF9959519655}"/>
              </a:ext>
            </a:extLst>
          </p:cNvPr>
          <p:cNvSpPr/>
          <p:nvPr/>
        </p:nvSpPr>
        <p:spPr>
          <a:xfrm>
            <a:off x="1569720" y="4800335"/>
            <a:ext cx="5943600" cy="0"/>
          </a:xfrm>
          <a:prstGeom prst="line">
            <a:avLst/>
          </a:prstGeom>
          <a:noFill/>
          <a:ln w="12700">
            <a:solidFill>
              <a:srgbClr val="92929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A2 — Architecture Comparison: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" y="77724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26464" y="77724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46704" y="77724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Mechanism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58384" y="77724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78624" y="77724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Use Case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133856"/>
            <a:ext cx="859536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133856"/>
            <a:ext cx="54864" cy="868680"/>
          </a:xfrm>
          <a:prstGeom prst="rect">
            <a:avLst/>
          </a:prstGeom>
          <a:solidFill>
            <a:srgbClr val="434343"/>
          </a:solidFill>
          <a:ln w="1270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960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11338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3040" y="118872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(spatial data)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1338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1188720"/>
            <a:ext cx="1874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+ pooling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feature maps)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11338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0" y="118872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/ global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11338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188720"/>
            <a:ext cx="1508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048256"/>
            <a:ext cx="8595360" cy="868680"/>
          </a:xfrm>
          <a:prstGeom prst="rect">
            <a:avLst/>
          </a:prstGeom>
          <a:solidFill>
            <a:srgbClr val="F3F3F3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048256"/>
            <a:ext cx="54864" cy="868680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103120"/>
            <a:ext cx="960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20482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63040" y="210312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prediction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(time-series, NLP)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20482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0" y="2103120"/>
            <a:ext cx="1874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memory cell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(forget/input/output)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03520" y="20482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94960" y="210312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sequences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(vanishing grad.)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23760" y="20482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0" y="2103120"/>
            <a:ext cx="1508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962656"/>
            <a:ext cx="859536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2962656"/>
            <a:ext cx="54864" cy="868680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3017520"/>
            <a:ext cx="960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371600" y="29626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463040" y="301752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9626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83280" y="3017520"/>
            <a:ext cx="1874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duel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3520" y="29626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94960" y="301752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instability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collapse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23760" y="29626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0" y="3017520"/>
            <a:ext cx="1508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Deepfakes, art gen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877056"/>
            <a:ext cx="8595360" cy="868680"/>
          </a:xfrm>
          <a:prstGeom prst="rect">
            <a:avLst/>
          </a:prstGeom>
          <a:solidFill>
            <a:srgbClr val="F3F3F3"/>
          </a:solidFill>
          <a:ln w="635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3877056"/>
            <a:ext cx="54864" cy="868680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3931920"/>
            <a:ext cx="960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371600" y="38770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463040" y="393192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context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language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91840" y="38770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83280" y="3931920"/>
            <a:ext cx="1874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(Q, K, V matrices)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303520" y="38770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94960" y="393192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O(n²)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data need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23760" y="3877056"/>
            <a:ext cx="9144" cy="868680"/>
          </a:xfrm>
          <a:prstGeom prst="rect">
            <a:avLst/>
          </a:prstGeom>
          <a:solidFill>
            <a:srgbClr val="D7D7D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315200" y="3931920"/>
            <a:ext cx="1508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BERT, Gemini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single architecture wins all tasks — real-world systems often combine multiple networks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F5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Use Cases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Deepfake Detection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Architecture Knowledge to Solve a Real Problem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1 — Deepfake Detection: Which Networks? And Why?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F1F1F1"/>
          </a:solidFill>
          <a:ln w="1016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73152" cy="777240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Problem Statement: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media platform needs to detect AI-generated fake videos (deepfakes) in REAL-TIME.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are created by GANs — meaning the detector must be smarter than the GAN that made them.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0" cy="2560320"/>
          </a:xfrm>
          <a:prstGeom prst="rect">
            <a:avLst/>
          </a:prstGeom>
          <a:solidFill>
            <a:srgbClr val="F2F2F2"/>
          </a:solidFill>
          <a:ln w="1270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4114800" cy="411480"/>
          </a:xfrm>
          <a:prstGeom prst="rect">
            <a:avLst/>
          </a:prstGeom>
          <a:solidFill>
            <a:srgbClr val="434343"/>
          </a:solidFill>
          <a:ln w="1270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1 — CNN  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38862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CNN?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have telltale spatial artifacts — unnatural blending at face boundaries, inconsistent skin texture, asymmetric eyes. CNN excels at detecting precisely these pixel-level and patch-level visual inconsistencies.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Frame-by-frame artifact detector. Extracts spatial features from each video frame and produces a "real/fake" confidence score per frame.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4114800" cy="2560320"/>
          </a:xfrm>
          <a:prstGeom prst="rect">
            <a:avLst/>
          </a:prstGeom>
          <a:solidFill>
            <a:srgbClr val="F4F4F4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4114800" cy="411480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70992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2 — Transformer  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157984"/>
            <a:ext cx="38862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Transformer?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frame may look realistic — but deepfakes often have inconsistent temporal behavior (unnatural blinks, head jitter, lip sync errors across frames). Transformer's self-attention can model long-range temporal context across the full video sequence.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9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 checker. Aggregates CNN frame features over time, catching when motion patterns deviate from natural human behavior.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315968"/>
            <a:ext cx="8595360" cy="658368"/>
          </a:xfrm>
          <a:prstGeom prst="rect">
            <a:avLst/>
          </a:prstGeom>
          <a:solidFill>
            <a:srgbClr val="232323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37997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Pipeline:  Video Frames  →  CNN (spatial features per frame)  →  Transformer (temporal attention across frames)  →  REAL / FAKE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1 — Research Task: Real Paper on Deepfake Detection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920240"/>
          </a:xfrm>
          <a:prstGeom prst="rect">
            <a:avLst/>
          </a:prstGeom>
          <a:solidFill>
            <a:srgbClr val="F2F2F2"/>
          </a:solidFill>
          <a:ln w="1016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solidFill>
            <a:srgbClr val="434343"/>
          </a:solidFill>
          <a:ln w="1270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955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Research Resource Found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8229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Type: Peer-reviewed paper + Meta AI Engineering Blog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</a:t>
            </a: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"FaceForensics++: Learning to Detect Manipulated Facial Images" — Rössler et al., 2019 (ICCV)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</a:t>
            </a: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github.com/ondyari/FaceForensics  |  arxiv.org/abs/1901.08971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Trustworthy: </a:t>
            </a:r>
            <a:r>
              <a:rPr lang="en-US" sz="100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at ICCV (top-tier computer vision conference). Over 2,000 citations. Benchmark dataset used by Google, Facebook, and industry researchers worldwide.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788920"/>
            <a:ext cx="8595360" cy="1371600"/>
          </a:xfrm>
          <a:prstGeom prst="rect">
            <a:avLst/>
          </a:prstGeom>
          <a:solidFill>
            <a:srgbClr val="EFEFEF"/>
          </a:solidFill>
          <a:ln w="1016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8595360" cy="384048"/>
          </a:xfrm>
          <a:prstGeom prst="rect">
            <a:avLst/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807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Architecture Did They Use?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18688"/>
            <a:ext cx="8321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FaceForensics++ uses a </a:t>
            </a:r>
            <a:r>
              <a:rPr lang="en-US" sz="10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architecture (XceptionNet — an extreme version of Inception)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fine-tuned on face manipulations to detect pixel-level artifacts in individual frames. Later extensions (e.g., </a:t>
            </a:r>
            <a:r>
              <a:rPr lang="en-US" sz="1050" b="1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LipForensics, CLIP-based detectors)</a:t>
            </a:r>
            <a:r>
              <a:rPr lang="en-US" sz="1050" dirty="0">
                <a:solidFill>
                  <a:srgbClr val="18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Transformer-based temporal reasoning to detect behavioral inconsistencies across frame sequences — validating our two-network choice above.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224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Architecture (inspired by FaceForensics++ + Temporal Transformers):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462272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46227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53312" y="46085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81912" y="4462272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727272"/>
          </a:solidFill>
          <a:ln w="12700">
            <a:solidFill>
              <a:srgbClr val="727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81912" y="446227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60904" y="46085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89504" y="4462272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434343"/>
          </a:solidFill>
          <a:ln w="12700">
            <a:solidFill>
              <a:srgbClr val="4343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89504" y="446227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XceptionNet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68496" y="46085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97096" y="4462272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585858"/>
          </a:solidFill>
          <a:ln w="12700">
            <a:solidFill>
              <a:srgbClr val="58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97096" y="446227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76088" y="46085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04688" y="4462272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494949"/>
          </a:solidFill>
          <a:ln w="12700">
            <a:solidFill>
              <a:srgbClr val="49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04688" y="446227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(Temporal)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0" y="46085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12280" y="4462272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484848"/>
          </a:solidFill>
          <a:ln w="1270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12280" y="446227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91272" y="46085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6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19872" y="4462272"/>
            <a:ext cx="1078992" cy="594360"/>
          </a:xfrm>
          <a:prstGeom prst="roundRect">
            <a:avLst>
              <a:gd name="adj" fmla="val 12308"/>
            </a:avLst>
          </a:prstGeom>
          <a:solidFill>
            <a:srgbClr val="5F5F5F"/>
          </a:solidFill>
          <a:ln w="12700">
            <a:solidFill>
              <a:srgbClr val="5F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19872" y="446227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207008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1207008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Section A1 — Why DL?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outperforms traditional ML when data is large, high-dimensional, and raw (images, audio, text). Avoid DL for small datasets (&lt;1,000 samples) or when interpretability is required (medicine, law).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207008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54864" cy="1207008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9692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CNN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for image classification. Key: convolution filters detect local spatial features. Limitation: cannot reason across long sequences or time.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114800" cy="1207008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54864" cy="1207008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2951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RNN / LSTM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58775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sequential data. Key: gated memory cells remember important context over time. Limitation: slow training, struggles with very long sequences.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4114800" cy="1207008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54864" cy="1207008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2951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GAN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58775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generate synthetic data through adversarial competition. Key: Generator vs Discriminator. Limitation: training instability, mode collapse.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114800" cy="1207008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54864" cy="1207008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6210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Transformer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91363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long-range context with self-attention (Q, K, V). Powers GPT, BERT, Gemini. Limitation: quadratic complexity, needs massive data.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14800" cy="1207008"/>
          </a:xfrm>
          <a:prstGeom prst="rect">
            <a:avLst/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54864" cy="1207008"/>
          </a:xfrm>
          <a:prstGeom prst="rect">
            <a:avLst/>
          </a:prstGeom>
          <a:solidFill>
            <a:srgbClr val="676767"/>
          </a:solidFill>
          <a:ln w="12700">
            <a:solidFill>
              <a:srgbClr val="6767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36210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67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Case Study: Deepfake Detection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391363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6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solution = CNN (spatial artifact detection per frame) + Transformer (temporal consistency across frames). Validated by FaceForensics++ paper (ICCV 2019, 2000+ citations).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15151"/>
      </a:dk2>
      <a:lt2>
        <a:srgbClr val="E6E6E6"/>
      </a:lt2>
      <a:accent1>
        <a:srgbClr val="6D6D6D"/>
      </a:accent1>
      <a:accent2>
        <a:srgbClr val="959595"/>
      </a:accent2>
      <a:accent3>
        <a:srgbClr val="A5A5A5"/>
      </a:accent3>
      <a:accent4>
        <a:srgbClr val="BCBCBC"/>
      </a:accent4>
      <a:accent5>
        <a:srgbClr val="8E8E8E"/>
      </a:accent5>
      <a:accent6>
        <a:srgbClr val="8F8F8F"/>
      </a:accent6>
      <a:hlink>
        <a:srgbClr val="515151"/>
      </a:hlink>
      <a:folHlink>
        <a:srgbClr val="67676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50505"/>
                <a:satMod val="333333"/>
                <a:tint val="67000"/>
              </a:schemeClr>
            </a:gs>
            <a:gs pos="50000">
              <a:schemeClr val="phClr">
                <a:lumMod val="333333"/>
                <a:satMod val="202020"/>
                <a:tint val="73000"/>
              </a:schemeClr>
            </a:gs>
            <a:gs pos="100000">
              <a:schemeClr val="phClr">
                <a:lumMod val="333333"/>
                <a:satMod val="595959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202020"/>
                <a:lumMod val="171717"/>
                <a:tint val="94000"/>
              </a:schemeClr>
            </a:gs>
            <a:gs pos="50000">
              <a:schemeClr val="phClr">
                <a:satMod val="50505"/>
                <a:lumMod val="40404"/>
                <a:shade val="40404"/>
              </a:schemeClr>
            </a:gs>
            <a:gs pos="100000">
              <a:schemeClr val="phClr">
                <a:lumMod val="99000"/>
                <a:satMod val="50505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60606"/>
          </a:schemeClr>
        </a:solidFill>
        <a:gradFill rotWithShape="1">
          <a:gsLst>
            <a:gs pos="0">
              <a:schemeClr val="phClr">
                <a:tint val="93000"/>
                <a:satMod val="60606"/>
                <a:shade val="98000"/>
                <a:lumMod val="171717"/>
              </a:schemeClr>
            </a:gs>
            <a:gs pos="50000">
              <a:schemeClr val="phClr">
                <a:tint val="98000"/>
                <a:satMod val="50505"/>
                <a:shade val="90000"/>
                <a:lumMod val="202020"/>
              </a:schemeClr>
            </a:gs>
            <a:gs pos="100000">
              <a:schemeClr val="phClr">
                <a:shade val="63000"/>
                <a:satMod val="50505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323"/>
      </a:dk2>
      <a:lt2>
        <a:srgbClr val="E8E8E8"/>
      </a:lt2>
      <a:accent1>
        <a:srgbClr val="4D4D4D"/>
      </a:accent1>
      <a:accent2>
        <a:srgbClr val="8D8D8D"/>
      </a:accent2>
      <a:accent3>
        <a:srgbClr val="4A4A4A"/>
      </a:accent3>
      <a:accent4>
        <a:srgbClr val="797979"/>
      </a:accent4>
      <a:accent5>
        <a:srgbClr val="595959"/>
      </a:accent5>
      <a:accent6>
        <a:srgbClr val="7E7E7E"/>
      </a:accent6>
      <a:hlink>
        <a:srgbClr val="6A6A6A"/>
      </a:hlink>
      <a:folHlink>
        <a:srgbClr val="73737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50505"/>
                <a:satMod val="333333"/>
                <a:tint val="67000"/>
              </a:schemeClr>
            </a:gs>
            <a:gs pos="50000">
              <a:schemeClr val="phClr">
                <a:lumMod val="333333"/>
                <a:satMod val="202020"/>
                <a:tint val="73000"/>
              </a:schemeClr>
            </a:gs>
            <a:gs pos="100000">
              <a:schemeClr val="phClr">
                <a:lumMod val="333333"/>
                <a:satMod val="595959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202020"/>
                <a:lumMod val="171717"/>
                <a:tint val="94000"/>
              </a:schemeClr>
            </a:gs>
            <a:gs pos="50000">
              <a:schemeClr val="phClr">
                <a:satMod val="50505"/>
                <a:lumMod val="40404"/>
                <a:shade val="40404"/>
              </a:schemeClr>
            </a:gs>
            <a:gs pos="100000">
              <a:schemeClr val="phClr">
                <a:lumMod val="99000"/>
                <a:satMod val="50505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60606"/>
          </a:schemeClr>
        </a:solidFill>
        <a:gradFill rotWithShape="1">
          <a:gsLst>
            <a:gs pos="0">
              <a:schemeClr val="phClr">
                <a:tint val="93000"/>
                <a:satMod val="60606"/>
                <a:shade val="98000"/>
                <a:lumMod val="171717"/>
              </a:schemeClr>
            </a:gs>
            <a:gs pos="50000">
              <a:schemeClr val="phClr">
                <a:tint val="98000"/>
                <a:satMod val="50505"/>
                <a:shade val="90000"/>
                <a:lumMod val="202020"/>
              </a:schemeClr>
            </a:gs>
            <a:gs pos="100000">
              <a:schemeClr val="phClr">
                <a:shade val="63000"/>
                <a:satMod val="50505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2125</Words>
  <Application>Microsoft Office PowerPoint</Application>
  <PresentationFormat>On-screen Show (16:9)</PresentationFormat>
  <Paragraphs>296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Foundations</dc:title>
  <dc:subject>PptxGenJS Presentation</dc:subject>
  <dc:creator>PptxGenJS</dc:creator>
  <cp:lastModifiedBy>AC</cp:lastModifiedBy>
  <cp:revision>5</cp:revision>
  <dcterms:created xsi:type="dcterms:W3CDTF">2026-04-18T18:48:28Z</dcterms:created>
  <dcterms:modified xsi:type="dcterms:W3CDTF">2026-04-19T08:23:06Z</dcterms:modified>
</cp:coreProperties>
</file>